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4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430"/>
                </a:solidFill>
                <a:latin typeface="Calibri"/>
              </a:rPr>
              <a:t>Top 3 Handset Manufacturers by xDR Sessions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Apple</c:v>
                  </c:pt>
                  <c:pt idx="1">
                    <c:v>Samsung</c:v>
                  </c:pt>
                  <c:pt idx="2">
                    <c:v>Huawei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68395</c:v>
                </c:pt>
                <c:pt idx="1">
                  <c:v>40579</c:v>
                </c:pt>
                <c:pt idx="2">
                  <c:v>34366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4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430"/>
                </a:solidFill>
                <a:latin typeface="Calibri"/>
              </a:rPr>
              <a:t>Correlation of Each App Category with Total Data Volume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total data volume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Gaming</c:v>
                  </c:pt>
                  <c:pt idx="1">
                    <c:v>Youtube</c:v>
                  </c:pt>
                  <c:pt idx="2">
                    <c:v>Netflix</c:v>
                  </c:pt>
                  <c:pt idx="3">
                    <c:v>Google</c:v>
                  </c:pt>
                  <c:pt idx="4">
                    <c:v>Email</c:v>
                  </c:pt>
                  <c:pt idx="5">
                    <c:v>Social Media</c:v>
                  </c:pt>
                  <c:pt idx="6">
                    <c:v>Other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0.997</c:v>
                </c:pt>
                <c:pt idx="1">
                  <c:v>0.705</c:v>
                </c:pt>
                <c:pt idx="2">
                  <c:v>0.705</c:v>
                </c:pt>
                <c:pt idx="3">
                  <c:v>0.682</c:v>
                </c:pt>
                <c:pt idx="4">
                  <c:v>0.664</c:v>
                </c:pt>
                <c:pt idx="5">
                  <c:v>0.624</c:v>
                </c:pt>
                <c:pt idx="6">
                  <c:v>0.619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b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4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430"/>
                </a:solidFill>
                <a:latin typeface="Calibri"/>
              </a:rPr>
              <a:t>Subscribers per Engagement Cluster (k = 3, k-means)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 Engagement</c:v>
                  </c:pt>
                  <c:pt idx="1">
                    <c:v>Mainstream</c:v>
                  </c:pt>
                  <c:pt idx="2">
                    <c:v>Power Users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81151</c:v>
                </c:pt>
                <c:pt idx="1">
                  <c:v>21721</c:v>
                </c:pt>
                <c:pt idx="2">
                  <c:v>3984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4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430"/>
                </a:solidFill>
                <a:latin typeface="Calibri"/>
              </a:rPr>
              <a:t>Subscribers per Experience Cluster (k = 3, k-means)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Good
(baseline)</c:v>
                  </c:pt>
                  <c:pt idx="1">
                    <c:v>High Latency</c:v>
                  </c:pt>
                  <c:pt idx="2">
                    <c:v>Severe TCP
Retransmission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103510</c:v>
                </c:pt>
                <c:pt idx="1">
                  <c:v>2507</c:v>
                </c:pt>
                <c:pt idx="2">
                  <c:v>839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4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430"/>
                </a:solidFill>
                <a:latin typeface="Calibri"/>
              </a:rPr>
              <a:t>Model Fit Predicting Satisfaction Score (R²)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(test set)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Linear Regression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0.8173</c:v>
                </c:pt>
                <c:pt idx="1">
                  <c:v>0.9964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E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114800" cy="41148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DUE DILIGENCE  ·  ML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TellCo User Analytics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Acquisition Analysis of One Month of xDR Session Data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703320"/>
            <a:ext cx="2011680" cy="0"/>
          </a:xfrm>
          <a:prstGeom prst="line">
            <a:avLst/>
          </a:prstGeom>
          <a:noFill/>
          <a:ln w="25400">
            <a:solidFill>
              <a:srgbClr val="89C2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977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Due Diligence Team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Kumar, Nexthikes IT Solutions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257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150,001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" y="5806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XDR SESSIONS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49040" y="5257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106,856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749040" y="5806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SUBSCRIBERS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66560" y="5257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766560" y="5806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FIELDS ANALYZED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Month of Network Data, Four Analytical Lenses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TellCo, a mobile provider in the Republic of Pefkakia, made one month of xDR (data-session) records available for review. The objective: assess growth opportunities in the existing subscriber base and deliver a data-backed buy/sell recommendation.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99616" y="2834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499616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landscape &amp; session-level exploratory analysis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9272" y="251460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0248" y="2834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270248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3502152" y="365760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47872" y="4160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Frequency, duration &amp; traffic — k-means segmentation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9904" y="251460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2834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8" name="Text 16"/>
          <p:cNvSpPr/>
          <p:nvPr/>
        </p:nvSpPr>
        <p:spPr>
          <a:xfrm>
            <a:off x="6272784" y="365760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18504" y="4160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quality: RTT, throughput &amp; retransmission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60536" y="251460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243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811512" y="2834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9811512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20" dirty="0"/>
          </a:p>
        </p:txBody>
      </p:sp>
      <p:sp>
        <p:nvSpPr>
          <p:cNvPr id="23" name="Text 21"/>
          <p:cNvSpPr/>
          <p:nvPr/>
        </p:nvSpPr>
        <p:spPr>
          <a:xfrm>
            <a:off x="9043416" y="365760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89136" y="4160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score, predictive model &amp; final recommendation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Cleaning: From Raw Sessions to an Analysis-Ready 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150,001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session rows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6002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1,066 (0.71%)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0" y="2148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dropped — missing subscriber ID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6002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106,856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63640" y="2148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subscribers retained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16002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52560" y="2148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after treatment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25526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09067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subscriber IDs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3320" y="3054096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without an MSISDN can't be attributed to a customer — dropped explicitly rather than silently lost in downstream grouping.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418795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023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03320" y="3986784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columns winsorized at the 1st / 99th percentile, then missing values filled with the column mean (mode for categoricals such as handset fields).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512064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9560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03320" y="491947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per-user analytical base of 106,856 subscribers across 46 numeric usage metrics, ready for engagement, experience and satisfaction modeling.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USER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Landscape: Three Manufacturers Dominate the Base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577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46520" y="170992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3"/>
          <p:cNvSpPr/>
          <p:nvPr/>
        </p:nvSpPr>
        <p:spPr>
          <a:xfrm>
            <a:off x="6675120" y="15087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Apple, Samsung and Huawei together account for the large majority of all xDR sessions — any handset-bundling, financing or trade-in promotion should prioritize these three brands.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46520" y="312724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6675120" y="29260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Huawei's volume is concentrated almost entirely in one model — the B528S-23A, a 4G/LTE home router — pointing to a distinct fixed-wireless / home-broadband segment.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46520" y="454456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0" y="43434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segment sits alongside mobile-only phone users and represents a growth lever worth quantifying separately in commercial planning.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USER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Total Data Consumption per User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4922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60920" y="16002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is differentiated, not uniform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60920" y="1947672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 correlations are mostly under 0.10 — heavy use of one app category doesn't predict heavy use of another. Customers have distinct personas rather than a single 'heavy user' profile.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360920" y="31089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confirms 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60920" y="3456432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takes 3–4 principal components to explain the majority of variance in app usage (70.8% on PC1 alone, 87.7% cumulative by PC4) — no single dominant usage axis.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60920" y="46177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60920" y="4965192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Persona-based bundling and tiered/zero-rated data plans will outperform one-size-fits-all offers.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ENGAGEMENT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Is Pareto-Distributed Across Three Segments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7607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on session frequency, total duration and total traffic (min-max normalized). Elbow and silhouette analysis both support k ≈ 3.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53796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 are the smallest group — and the most valuable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37960" y="2039112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~3,984 subscribers post outsized session counts, duration and data volume. They likely drive a disproportionate share of revenue.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537960" y="3108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mainstream base is average across the board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37960" y="3456432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~21,721 subscribers show moderate frequency, duration and traffic — the day-to-day core of the business.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537960" y="4526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Low-engagement is the largest segment by far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37960" y="4873752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~81,151 subscribers show short sessions and low traffic — the primary target for reactivation and win-back campaigns.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EXPERIENCE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Quality Clustering Flags a Clear At-Risk Segment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7607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on avg. TCP retransmission volume, avg. RTT and avg. throughput (standardized). Worst cluster ranked via a standardized composite score.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53796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96.9% of subscribers get a good experience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37960" y="2039112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cluster (103,510 users) shows low RTT, low retransmission and healthy throughput.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537960" y="3108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latency-driven segment lags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37960" y="3456432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2,507 users show materially higher round-trip time and lower throughput.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537960" y="4526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segment is the true worst case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37960" y="4873752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 users carry very high TCP retransmission volume — the top churn and infrastructure-investment priority despite its small size.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· SATISFACTION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 Is Highly Predictable from Usage &amp; Network Data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 = average of a subscriber's engagement score and experience score (Euclidean distance to the least-favorable cluster centers).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0312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214884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2240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92240" y="2560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0.153  ·  R² 0.817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315468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3246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92240" y="3566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0.021  ·  R² 0.996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309360" y="429768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Forest's large jump over Linear Regression means satisfaction depends on non-linear interactions between usage and network quality. Feature importance is led by experience metrics (RTT, throughput) and total traffic — network-quality investment has a direct, measurable link to satisfaction and, by extension, retention and ARPU.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Across the Four Analyses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sx="100000" sy="100000" kx="0" ky="0" algn="bl" rotWithShape="0" blurRad="88900" dist="38100" dir="5400000">
              <a:srgbClr val="1E24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508760" y="176479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Landscape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Apple, Samsung and Huawei dominate the base; a large Huawei-router segment points to an under-monetized fixed-wireless / home-broadband customer base.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sx="100000" sy="100000" kx="0" ky="0" algn="bl" rotWithShape="0" blurRad="88900" dist="38100" dir="5400000">
              <a:srgbClr val="1E243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086600" y="176479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42316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is Pareto-distributed — a small high-engagement cluster (~4% of users) drives disproportionate session volume, duration and traffic.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sx="100000" sy="100000" kx="0" ky="0" algn="bl" rotWithShape="0" blurRad="88900" dist="38100" dir="5400000">
              <a:srgbClr val="1E243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508760" y="41422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80060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quality varies materially by segment; a small but clear poor-experience cluster is a concrete churn risk and infrastructure-investment target.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88620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B"/>
            </a:solidFill>
            <a:prstDash val="solid"/>
          </a:ln>
          <a:effectLst>
            <a:outerShdw sx="100000" sy="100000" kx="0" ky="0" algn="bl" rotWithShape="0" blurRad="88900" dist="38100" dir="5400000">
              <a:srgbClr val="1E243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160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086600" y="41422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80060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and experience combine into a highly predictable satisfaction score (Random Forest R² = 0.996), driven primarily by network-quality metrics.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47472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Proceed with Acquisition — With Conditions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B2550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 shows a broad, diversified base with clear, actionable segments: a high-value power-user cohort, a large mainstream base, and an identifiable at-risk segment. Under-monetized opportunities (home broadband via Huawei routers; high-engagement users without matching premium plans) plus a data-backed lever — network-quality investment in the poor-experience cluster — support a positive growth case, subject to validating patterns across multiple months and against TellCo's cost structure.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867912"/>
            <a:ext cx="100584" cy="100584"/>
          </a:xfrm>
          <a:prstGeom prst="ellipse">
            <a:avLst/>
          </a:prstGeom>
          <a:solidFill>
            <a:srgbClr val="89C2D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68503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6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month of xDR data — no visibility into seasonality, churn over time, or revenue/cost per user.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489704"/>
            <a:ext cx="100584" cy="100584"/>
          </a:xfrm>
          <a:prstGeom prst="ellipse">
            <a:avLst/>
          </a:prstGeom>
          <a:solidFill>
            <a:srgbClr val="89C2D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306824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6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capped at 1st/99th percentile and missing values mean/mode-imputed, which can mute genuinely extreme high-value or high-risk customers.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5111496"/>
            <a:ext cx="100584" cy="100584"/>
          </a:xfrm>
          <a:prstGeom prst="ellipse">
            <a:avLst/>
          </a:prstGeom>
          <a:solidFill>
            <a:srgbClr val="89C2D9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928616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6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labels (e.g. “poor experience”) are relative to this dataset only, not calibrated against industry benchmarks.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5733288"/>
            <a:ext cx="100584" cy="100584"/>
          </a:xfrm>
          <a:prstGeom prst="ellipse">
            <a:avLst/>
          </a:prstGeom>
          <a:solidFill>
            <a:srgbClr val="89C2D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55040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6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satisfaction model is a predictability demonstration, not a production-grade, cross-validated, time-stable model.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2026-08-10T18:10:15Z</dcterms:created>
  <dcterms:modified xsi:type="dcterms:W3CDTF">2026-08-10T18:10:15Z</dcterms:modified>
</cp:coreProperties>
</file>